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framing: every band slide follows the same physical-layer attribute set so bands can be compared column-for-column later in the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 point: NFC is the one 'band' here that is not a radio link in the far-field sense. Good anchor for why wavelength vs. range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FHSS in Bluetooth was interference-avoidance rather than security, but it is the same mechanism family as military TRANSEC hopping — worth one sentence when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slide: Wi-Fi 7's 320 MHz channels preview the theme of the whole deck — capacity comes from bandwidth, and bandwidth lives up-spectrum.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3G-to-4G transition is the cleanest example in the deck of an access-scheme change driven by a capacity ceiling rather than by new spectrum.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 for an academic audience: FR2 deployment underperformed the 2019-era hype; the mid-band + massive MIMO combination is what actually delivered. That lesson previews the 6G/THz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as research-stage throughout — 6G spectrum is not finalized (WRC-27 agenda). The absorption-aided covertness point connects directly to the THz column of the TRANSEC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figures are typical end-to-end user values; bent-pipe vs ISL routing changes LEO numbers slightly.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SATCOM is the band family where TRANSEC vocabulary (protected SATCOM, EHF hopping) survives in current operational use — bridge to the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ties the survey back to the taxonomy: the band attributes on the previous slides become the columns; TRANSEC objectives become the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entries verified to exist as of July 2026. Standards cited without a year (3GPP TS series) are living documents — cite the release/version you actually consult in the written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Communication Bands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physical-layer survey: NFC to terahertz, ground to orbit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 physical-layer TRANSEC taxonomy across all wireless bands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0515600" cy="182880"/>
          </a:xfrm>
          <a:prstGeom prst="rect">
            <a:avLst/>
          </a:prstGeom>
          <a:solidFill>
            <a:srgbClr val="2A335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480560"/>
            <a:ext cx="10973" cy="91440"/>
          </a:xfrm>
          <a:prstGeom prst="rect">
            <a:avLst/>
          </a:prstGeom>
          <a:solidFill>
            <a:srgbClr val="55618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MHz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4480560"/>
            <a:ext cx="10973" cy="91440"/>
          </a:xfrm>
          <a:prstGeom prst="rect">
            <a:avLst/>
          </a:prstGeom>
          <a:solidFill>
            <a:srgbClr val="55618C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4480560"/>
            <a:ext cx="10973" cy="91440"/>
          </a:xfrm>
          <a:prstGeom prst="rect">
            <a:avLst/>
          </a:prstGeom>
          <a:solidFill>
            <a:srgbClr val="55618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GHz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4480560"/>
            <a:ext cx="10973" cy="91440"/>
          </a:xfrm>
          <a:prstGeom prst="rect">
            <a:avLst/>
          </a:prstGeom>
          <a:solidFill>
            <a:srgbClr val="55618C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GHz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235440" y="4480560"/>
            <a:ext cx="10973" cy="91440"/>
          </a:xfrm>
          <a:prstGeom prst="rect">
            <a:avLst/>
          </a:prstGeom>
          <a:solidFill>
            <a:srgbClr val="55618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GHz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338560" y="4480560"/>
            <a:ext cx="10973" cy="91440"/>
          </a:xfrm>
          <a:prstGeom prst="rect">
            <a:avLst/>
          </a:prstGeom>
          <a:solidFill>
            <a:srgbClr val="55618C"/>
          </a:solidFill>
          <a:ln/>
        </p:spPr>
      </p:sp>
      <p:sp>
        <p:nvSpPr>
          <p:cNvPr id="17" name="Text 15"/>
          <p:cNvSpPr/>
          <p:nvPr/>
        </p:nvSpPr>
        <p:spPr>
          <a:xfrm>
            <a:off x="1088136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THz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82830" y="4206240"/>
            <a:ext cx="36576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Shape 17"/>
          <p:cNvSpPr/>
          <p:nvPr/>
        </p:nvSpPr>
        <p:spPr>
          <a:xfrm>
            <a:off x="442750" y="3730752"/>
            <a:ext cx="1316736" cy="310896"/>
          </a:xfrm>
          <a:prstGeom prst="roundRect">
            <a:avLst>
              <a:gd name="adj" fmla="val 14706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42750" y="37307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10542" y="4206240"/>
            <a:ext cx="36576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70462" y="4864608"/>
            <a:ext cx="1316736" cy="310896"/>
          </a:xfrm>
          <a:prstGeom prst="roundRect">
            <a:avLst>
              <a:gd name="adj" fmla="val 14706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170462" y="486460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/ Wi-Fi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55152" y="4206240"/>
            <a:ext cx="36576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5" name="Shape 23"/>
          <p:cNvSpPr/>
          <p:nvPr/>
        </p:nvSpPr>
        <p:spPr>
          <a:xfrm>
            <a:off x="5515072" y="3730752"/>
            <a:ext cx="1316736" cy="310896"/>
          </a:xfrm>
          <a:prstGeom prst="roundRect">
            <a:avLst>
              <a:gd name="adj" fmla="val 14706"/>
            </a:avLst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515072" y="37307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sub-6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47134" y="4206240"/>
            <a:ext cx="36576" cy="365760"/>
          </a:xfrm>
          <a:prstGeom prst="rect">
            <a:avLst/>
          </a:prstGeom>
          <a:solidFill>
            <a:srgbClr val="27327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07054" y="4864608"/>
            <a:ext cx="1316736" cy="310896"/>
          </a:xfrm>
          <a:prstGeom prst="roundRect">
            <a:avLst>
              <a:gd name="adj" fmla="val 14706"/>
            </a:avLst>
          </a:prstGeom>
          <a:solidFill>
            <a:srgbClr val="27327F"/>
          </a:solidFill>
          <a:ln/>
        </p:spPr>
      </p:sp>
      <p:sp>
        <p:nvSpPr>
          <p:cNvPr id="29" name="Text 27"/>
          <p:cNvSpPr/>
          <p:nvPr/>
        </p:nvSpPr>
        <p:spPr>
          <a:xfrm>
            <a:off x="7107054" y="486460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SATCOM Ku/Ka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054459" y="4206240"/>
            <a:ext cx="36576" cy="365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Shape 29"/>
          <p:cNvSpPr/>
          <p:nvPr/>
        </p:nvSpPr>
        <p:spPr>
          <a:xfrm>
            <a:off x="7414379" y="3730752"/>
            <a:ext cx="1316736" cy="310896"/>
          </a:xfrm>
          <a:prstGeom prst="roundRect">
            <a:avLst>
              <a:gd name="adj" fmla="val 14706"/>
            </a:avLst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7414379" y="373075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mmWave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587493" y="4206240"/>
            <a:ext cx="36576" cy="365760"/>
          </a:xfrm>
          <a:prstGeom prst="rect">
            <a:avLst/>
          </a:prstGeom>
          <a:solidFill>
            <a:srgbClr val="5B3FA8"/>
          </a:solidFill>
          <a:ln/>
        </p:spPr>
      </p:sp>
      <p:sp>
        <p:nvSpPr>
          <p:cNvPr id="34" name="Shape 32"/>
          <p:cNvSpPr/>
          <p:nvPr/>
        </p:nvSpPr>
        <p:spPr>
          <a:xfrm>
            <a:off x="8947413" y="4864608"/>
            <a:ext cx="1316736" cy="310896"/>
          </a:xfrm>
          <a:prstGeom prst="roundRect">
            <a:avLst>
              <a:gd name="adj" fmla="val 14706"/>
            </a:avLst>
          </a:prstGeom>
          <a:solidFill>
            <a:srgbClr val="5B3FA8"/>
          </a:solidFill>
          <a:ln/>
        </p:spPr>
      </p:sp>
      <p:sp>
        <p:nvSpPr>
          <p:cNvPr id="35" name="Text 33"/>
          <p:cNvSpPr/>
          <p:nvPr/>
        </p:nvSpPr>
        <p:spPr>
          <a:xfrm>
            <a:off x="8947413" y="486460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sub-THz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Nicholas D. Redmond  ·  University of Memphis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 — Near-Field Communication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Coupling, not radiating: communication via a shared magnetic field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 MHz  ·  λ ≈ 22 m  ·  range &lt; 10 cm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1078992"/>
            <a:ext cx="3566160" cy="146304"/>
          </a:xfrm>
          <a:prstGeom prst="rect">
            <a:avLst/>
          </a:prstGeom>
          <a:solidFill>
            <a:srgbClr val="E3E5EB"/>
          </a:solidFill>
          <a:ln/>
        </p:spPr>
      </p:sp>
      <p:sp>
        <p:nvSpPr>
          <p:cNvPr id="7" name="Shape 5"/>
          <p:cNvSpPr/>
          <p:nvPr/>
        </p:nvSpPr>
        <p:spPr>
          <a:xfrm>
            <a:off x="8127988" y="1051560"/>
            <a:ext cx="8229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31352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4584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957816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71048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8428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631168" y="1243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 MHz (HF ISM band)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22 m, but operating range &lt; 10 cm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sits deep inside the near field (r ≪ λ/2π)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327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214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CHARACTERISTICS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214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magnetic coupling — no propagating far-field link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strength decays ~1/r³ → range is physics-limited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and tag behave as a loosely coupled transformer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821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&amp;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821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(10% / 100%) with Miller or Manchester coding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tag replies by load modulation of the reader field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212 / 424 kbps; simple reader-talks-first access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541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911428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1428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tags harvest all power from the reader field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field power ~100–500 mW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Zero-battery operation on the tag side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INTERFERENCE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Near-field link → largely immune to far-field RF interference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Detuned by nearby metal; orientation-sensitive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Eavesdropping demonstrated at meters despite cm-range 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327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214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PROPERTIES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214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coil (magnetic antenna) — not a resonant λ-scaled radiator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printed spirals in cards and phone housings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geometry sets coupling, not gain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934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821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821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payment (EMV), transit, access control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tags and smart posters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bootstrap for Bluetooth / Wi-Fi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9541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/>
          <p:nvPr/>
        </p:nvSpPr>
        <p:spPr>
          <a:xfrm>
            <a:off x="911428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1428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Proximity acts as built-in access control; passive, cheap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Centimeter range, kbps rates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Anything beyond touch-range or low-rate needs a radiating band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ISO/IEC 18092:2013 / ECMA-340, NFC Interface and Protocol (NFCIP-1).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/ 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personal-area links in the crowded 2.4 GHz ISM band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2.400–2.4835 GHz  ·  λ ≈ 12.5 cm  ·  1–100 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1078992"/>
            <a:ext cx="3566160" cy="146304"/>
          </a:xfrm>
          <a:prstGeom prst="rect">
            <a:avLst/>
          </a:prstGeom>
          <a:solidFill>
            <a:srgbClr val="E3E5EB"/>
          </a:solidFill>
          <a:ln/>
        </p:spPr>
      </p:sp>
      <p:sp>
        <p:nvSpPr>
          <p:cNvPr id="7" name="Shape 5"/>
          <p:cNvSpPr/>
          <p:nvPr/>
        </p:nvSpPr>
        <p:spPr>
          <a:xfrm>
            <a:off x="9744363" y="1051560"/>
            <a:ext cx="82296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31352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4584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957816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71048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8428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631168" y="1243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2.400–2.4835 GHz (global unlicensed ISM)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Classic: 79 × 1 MHz channels; BLE: 40 × 2 MHz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1–100 m depending on power class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327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214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CHARACTERISTICS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214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far-field; moderate wall penetration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indoor multipath; narrowband channels fade flat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shadowing matters at wearable power levels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821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&amp;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821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GFSK (BLE / BR); π/4-DQPSK and 8DPSK for EDR (≤3 Mbps)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FHSS at 1600 hops/s (Classic); adaptive hopping in BLE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master–slave scheduling — an early consumer TRANSEC relative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541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911428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1428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100 mW · Class 2: 2.5 mW · Class 3: 1 mW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duty-cycled to ~µW–mW average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on a coin cell is the defining design target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INTERFERENCE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2.4 GHz with Wi-Fi, Zigbee, microwave ovens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frequency hopping blacklists occupied channels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Interference-limited, not noise-limited, in practice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327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214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PROPERTIES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214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Chip, PIFA, or meander antennas — λ small enough to embed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Near-omnidirectional, ~0 dBi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aperture to spare → link budget leans on receiver sensitivity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934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821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821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HID peripherals, wearables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beacons, sensors, mesh lighting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keys, medical devices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9541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/>
          <p:nvPr/>
        </p:nvSpPr>
        <p:spPr>
          <a:xfrm>
            <a:off x="911428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1428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Ultra-low power, negligible cost, ubiquitous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≤3 Mbps, short range, ISM congestion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Throughput and coverage needs push to Wi-Fi / cellular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Bluetooth SIG, Bluetooth Core Specification v6.1, May 2025.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(802.11)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local access across three unlicensed bands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/ 5 / 6 GHz (+60 GHz)  ·  channels 20→320 MHz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1078992"/>
            <a:ext cx="3566160" cy="146304"/>
          </a:xfrm>
          <a:prstGeom prst="rect">
            <a:avLst/>
          </a:prstGeom>
          <a:solidFill>
            <a:srgbClr val="E3E5EB"/>
          </a:solidFill>
          <a:ln/>
        </p:spPr>
      </p:sp>
      <p:sp>
        <p:nvSpPr>
          <p:cNvPr id="7" name="Shape 5"/>
          <p:cNvSpPr/>
          <p:nvPr/>
        </p:nvSpPr>
        <p:spPr>
          <a:xfrm>
            <a:off x="9744363" y="1051560"/>
            <a:ext cx="335966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31352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4584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957816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71048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8428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631168" y="1243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GHz, 5 GHz, 6 GHz (Wi-Fi 6E/7); 60 GHz in 802.11ad/ay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widths 20 → 320 MHz (Wi-Fi 7)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~50–100 m indoors; 2.4 GHz reaches farthest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327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214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CHARACTERISTICS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214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multipath-rich, frequency-selective channels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OFDM subcarriers turn one hard channel into many easy ones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 GHz penetrate walls worse than 2.4 — range/rate trade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821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&amp;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821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OFDM / OFDMA; up to 4096-QAM in Wi-Fi 7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MU-MIMO spatial multiplexing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CSMA/CA listen-before-talk — polite, but contention-bound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541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911428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1428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mW–1 W EIRP under regulatory caps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mains-powered; clients battery-constrained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Target-wake-time (Wi-Fi 6) trims client energy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INTERFERENCE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Unlicensed → co-channel contention is the real limit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radar-avoidance constraints at 5 GHz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deployments become interference-limited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327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214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PROPERTIES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214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up to 8×8 MIMO; omni dipoles in APs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beamforming from channel sounding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streams, not aperture, drive capacity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934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821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821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access everywhere; cellular offload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backhaul, fixed wireless in unlicensed bands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GHz: AR/VR links, wireless docking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9541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/>
          <p:nvPr/>
        </p:nvSpPr>
        <p:spPr>
          <a:xfrm>
            <a:off x="911428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1428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Multi-Gbps at consumer cost, universal adoption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No guaranteed QoS; contention collapses under load; limited range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Wide-area coverage and mobility are cellular's job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IEEE Std 802.11be-2024, Enhancements for Extremely High Throughput (Wi-Fi 7), published Jul. 2025.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I: 3G → 4G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spread-spectrum sharing to orthogonal subcarriers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MHz – 3.5 GHz licensed spectrum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1078992"/>
            <a:ext cx="3566160" cy="146304"/>
          </a:xfrm>
          <a:prstGeom prst="rect">
            <a:avLst/>
          </a:prstGeom>
          <a:solidFill>
            <a:srgbClr val="E3E5EB"/>
          </a:solidFill>
          <a:ln/>
        </p:spPr>
      </p:sp>
      <p:sp>
        <p:nvSpPr>
          <p:cNvPr id="7" name="Shape 5"/>
          <p:cNvSpPr/>
          <p:nvPr/>
        </p:nvSpPr>
        <p:spPr>
          <a:xfrm>
            <a:off x="9314954" y="1051560"/>
            <a:ext cx="546276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31352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4584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957816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71048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8428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631168" y="1243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5687568" cy="3566160"/>
          </a:xfrm>
          <a:prstGeom prst="roundRect">
            <a:avLst>
              <a:gd name="adj" fmla="val 1538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1682496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 — UMTS / WCDMA (≈2001)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2029968"/>
            <a:ext cx="53583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Bands: 850–2100 MHz; 5 MHz carriers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DSSS CDMA at 3.84 Mcps — all users share the band, separated by code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 QPSK → 16-QAM (HSPA); 0.4–42 Mbps (HSPA+)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machinery: RAKE receivers combine multipath; soft handover; fast power control fights the near–far problem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UE up to 24 dBm, tightly controlled — every user is everyone else's interference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Antenna: sector antennas at cell sites; single antenna in handsets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73952" y="1572768"/>
            <a:ext cx="5687568" cy="3566160"/>
          </a:xfrm>
          <a:prstGeom prst="roundRect">
            <a:avLst>
              <a:gd name="adj" fmla="val 1538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6638544" y="1682496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— LTE / LTE-A (≈2010)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38544" y="2029968"/>
            <a:ext cx="53583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Bands: 600 MHz–3.5 GHz; 1.4–20 MHz carriers + aggregation to 100 MHz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OFDMA downlink; SC-FDMA uplink (lower PAPR spares the handset PA)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 up to 256-QAM; 2×2–4×4 MIMO; 100 Mbps–1 Gbps class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machinery: cyclic prefix + per-subcarrier equalization replace RAKE; all-IP flat network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UE 23 dBm; eNB tens of watts per sector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Antenna: cross-polarized sector arrays; MIMO becomes the capacity engine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321808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E4EFE5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54132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3G → 4G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5650992"/>
            <a:ext cx="10917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CDMA capacity is intra-cell-interference-limited: every added user raises the noise floor for all others, and wider bandwidth makes RAKE multipath combining harder. OFDMA sidesteps both — orthogonal subcarriers eliminate in-cell interference and make equalization trivial, so bandwidth and MIMO order can scale. Applications made the jump non-optional: smartphone video needed tens of Mbps, not hundreds of kbps.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3GPP TS 25.211, UTRA (FDD): Physical channels and mapping · 3GPP TS 36.211, E-UTRA: Physical channels and modulation.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II: 5G NR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air interface stretched from 600 MHz to mmWave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FR1: 0.41–7.125 GHz  ·  FR2: 24–71 GHz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1078992"/>
            <a:ext cx="3566160" cy="146304"/>
          </a:xfrm>
          <a:prstGeom prst="rect">
            <a:avLst/>
          </a:prstGeom>
          <a:solidFill>
            <a:srgbClr val="E3E5EB"/>
          </a:solidFill>
          <a:ln/>
        </p:spPr>
      </p:sp>
      <p:sp>
        <p:nvSpPr>
          <p:cNvPr id="7" name="Shape 5"/>
          <p:cNvSpPr/>
          <p:nvPr/>
        </p:nvSpPr>
        <p:spPr>
          <a:xfrm>
            <a:off x="9197009" y="1051560"/>
            <a:ext cx="1596552" cy="20116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31352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4584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957816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71048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8428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631168" y="1243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 (sub-6/7): coverage + capacity workhorse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 (mmWave, λ ≈ 4–12 mm): 400 MHz channels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 cells: ~100–500 m outdoor, LOS-favored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327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214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CHARACTERISTICS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214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 is quasi-optical: hands, bodies, foliage block it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absorption near 60 GHz; rain fade grows with f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stops helping → blockage becomes the channel 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821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&amp;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821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CP-OFDM, flexible numerology (15–120 kHz subcarriers)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256-QAM; scalable slots for URLLC (~1 ms)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management is part of the access procedure itself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541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911428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1428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23–26 dBm; gNB arrays concentrate watts into beams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 gain claws back mmWave path loss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bit improves even as absolute power rises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INTERFERENCE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channels → thermal-noise-limited (kTB grows with B)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noise becomes a real impairment at FR2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reuse managed by beams, not just cell planning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327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214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PROPERTIES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214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MIMO (e.g., 64T64R) standard at mid-band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1 cm → phased arrays fit inside a phone edge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 scaling is the whole reason mmWave works at 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934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821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821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eMBB, fixed wireless access, private industrial 5G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URLLC: automation, vehicular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mMTC: massive sensor populations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9541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/>
          <p:nvPr/>
        </p:nvSpPr>
        <p:spPr>
          <a:xfrm>
            <a:off x="911428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1428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Multi-Gbps, low latency, network slicing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FR2 coverage is tiny and fragile → densification cost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Mid-band carries most real traffic; mmWave stays a hotspot tool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3GPP TS 38.211, NR: Physical channels and modulation · ITU-R Rec. P.676-12, Attenuation by atmospheric gases (2019).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III: 6G and the sub-THz frontier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territory: enormous bandwidth, unforgiving physics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5B3FA8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7–24 GHz mid-band + 100–300 GHz research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1078992"/>
            <a:ext cx="3566160" cy="146304"/>
          </a:xfrm>
          <a:prstGeom prst="rect">
            <a:avLst/>
          </a:prstGeom>
          <a:solidFill>
            <a:srgbClr val="E3E5EB"/>
          </a:solidFill>
          <a:ln/>
        </p:spPr>
      </p:sp>
      <p:sp>
        <p:nvSpPr>
          <p:cNvPr id="7" name="Shape 5"/>
          <p:cNvSpPr/>
          <p:nvPr/>
        </p:nvSpPr>
        <p:spPr>
          <a:xfrm>
            <a:off x="10075935" y="1051560"/>
            <a:ext cx="1164011" cy="201168"/>
          </a:xfrm>
          <a:prstGeom prst="rect">
            <a:avLst/>
          </a:prstGeom>
          <a:solidFill>
            <a:srgbClr val="5B3FA8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31352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4584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957816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71048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8428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631168" y="1243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&amp; RANGE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mid-band 7–24 GHz: likely first 6G spectrum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Sub-THz 100–300 GHz (λ ≈ 1–3 mm): target 100 Gbps–1 Tbps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Sub-THz range: meters to a few hundred meters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327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214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CHARACTERISTICS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214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(H₂O) absorption lines carve usable spectral windows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Quasi-optical; scattering off surface roughness matters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limits eavesdropping distance — a TRANSEC upside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821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&amp;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821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Candidates: OFDM variants, single-carrier + equalization, OTFS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ISAC: one waveform for sensing and communication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standardized — waveform choice is an open problem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541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911428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1428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efficiency collapses toward sub-THz (semiconductor limits)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Energy-per-bit, not peak rate, is the binding constraint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 and hybrid front-ends under active research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INTERFERENCE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impairments + phase noise rival thermal noise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absorption re-emission adds a noise floor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scarce — beams are pencils, cells are bubbles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327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214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PROPERTIES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214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Ultra-massive arrays: 100s–1000s of elements in cm²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beams; near-field effects enter the link budget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 proposed to route around blockage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934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821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821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backhaul / fronthaul at fiber-class rates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Short-range Tbps links, kiosk / chip-to-chip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sensing + comms (ISAC)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9541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/>
          <p:nvPr/>
        </p:nvSpPr>
        <p:spPr>
          <a:xfrm>
            <a:off x="911428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3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1428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Contiguous GHz-scale bandwidth exists nowhere else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Range, blockage, PA efficiency, immature hardware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Likely niche links + densification, not blanket coverage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ITU-R Rec. M.2160-0 (11/2023) · Rep. ITU-R M.2541 (2024) · Rappaport et al., IEEE Access 7 (2019) · Ma et al., Nature 563 (2018).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Communications I: Orbits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Altitude sets everything: delay, Doppler, coverage, constellation size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326880" y="274320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27327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2743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km → 35,786 km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5F8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2704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189280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160–2,000 km (Starlink ≈ 550 km)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240280"/>
            <a:ext cx="3282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latency ~20–40 ms — terrestrial-class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moves ~7.6 km/s → large, fast-changing Doppler; passes last minutes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handover between satellites and beams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needs constellations of hundreds to thousands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free-space path loss → small user terminals work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Starlink, OneWeb, Kuiper, Iridium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5F8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52704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189280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2,000–35,786 km (GPS: 20,200 km)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34840" y="2240280"/>
            <a:ext cx="3282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latency ~130–250 ms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Doppler; passes last hours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coverage with dozens of satellites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 GNSS: GPS, Galileo, GLONASS, BeiDou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O3b/mPOWER (≈8,000 km) for broadband trunking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ground: fewer sats than LEO, less delay than GEO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611880" cy="4160520"/>
          </a:xfrm>
          <a:prstGeom prst="roundRect">
            <a:avLst>
              <a:gd name="adj" fmla="val 1519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52704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47888" y="189280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35,786 km, equatorial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47888" y="2240280"/>
            <a:ext cx="32826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fixed in the sky → no tracking, cheap fixed dishes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latency ~500–600 ms — felt in interactive traffic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satellites ≈ global coverage (poles excluded)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path loss (~210 dB at Ka-band)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broadcast, VSAT, and military heritage</a:t>
            </a:r>
            <a:endParaRPr lang="en-US" sz="105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launch, one orbital slot, 15+ year lifetime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576072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7E9F4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5843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ORBIT TRADE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606247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orbit buys latency and link budget but costs constellation size, Doppler compensation, and handover complexity — the same coverage-vs-density trade that drives terrestrial cell shrinkage, played out vertically.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Tedeschi, Sciancalepore &amp; Di Pietro, Computer Networks 216 (2022) · Salim, Moustafa &amp; Reisslein, IEEE Commun. Surveys &amp; Tuts. 27(1) (2025).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Communications II: The Link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power-limited channel where every dB is negotiated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55280" y="2743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27327F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2743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/ S / C / X / Ku / Ka / Q-V + optical ISL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46720" y="1078992"/>
            <a:ext cx="3566160" cy="146304"/>
          </a:xfrm>
          <a:prstGeom prst="rect">
            <a:avLst/>
          </a:prstGeom>
          <a:solidFill>
            <a:srgbClr val="E3E5EB"/>
          </a:solidFill>
          <a:ln/>
        </p:spPr>
      </p:sp>
      <p:sp>
        <p:nvSpPr>
          <p:cNvPr id="7" name="Shape 5"/>
          <p:cNvSpPr/>
          <p:nvPr/>
        </p:nvSpPr>
        <p:spPr>
          <a:xfrm>
            <a:off x="9473184" y="1051560"/>
            <a:ext cx="1211760" cy="201168"/>
          </a:xfrm>
          <a:prstGeom prst="rect">
            <a:avLst/>
          </a:prstGeom>
          <a:solidFill>
            <a:srgbClr val="27327F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31352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244584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957816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71048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1384280" y="12435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631168" y="12435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BANDS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L/S (1–4 GHz): mobile SATCOM, GNSS — rain-tolerant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(4/6) legacy fixed; X (7/8) military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(12/14) VSAT/DTH; Ka (20/30) HTS; Q/V (40/50) feeders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0327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214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CHARACTERISTICS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214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path loss dominates: ~210 dB, GEO at Ka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fade grows steeply with band (Ka ≫ C)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Scintillation, low-elevation atmospheric effects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934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626821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 &amp;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821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DVB-S2X: QPSK → 32APSK with adaptive coding &amp; modulation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APSK favored: nearly constant envelope suits saturated amps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Military: FHSS at EHF for protected SATCOM; DSSS ranging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95410" y="1572768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9114282" y="1655064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14282" y="1901952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TWTA/SSPA run near saturation for efficiency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budget in Eb/N0 and G/T, not raw SNR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 ceiling caps the whole downlink budget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INTERFERENCE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Thermal-noise-limited; antenna temperature matters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Adjacent-satellite interference → coordination regimes (ITU)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Uplink jamming is the classic military threat model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0327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1" name="Text 29"/>
          <p:cNvSpPr/>
          <p:nvPr/>
        </p:nvSpPr>
        <p:spPr>
          <a:xfrm>
            <a:off x="342214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PROPERTIES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214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High-gain parabolics for fixed GEO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Electronically steered phased arrays track LEO (Starlink terminal)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Multibeam spot arrays on the spacecraft reuse spectrum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934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821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821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(HTS, LEO megaconstellations), broadcast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GNSS, backhaul, maritime/aero, IoT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and government protected comms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95410" y="4059936"/>
            <a:ext cx="2708910" cy="2340864"/>
          </a:xfrm>
          <a:prstGeom prst="roundRect">
            <a:avLst>
              <a:gd name="adj" fmla="val 2148"/>
            </a:avLst>
          </a:prstGeom>
          <a:solidFill>
            <a:srgbClr val="F4F5F8"/>
          </a:solidFill>
          <a:ln/>
        </p:spPr>
      </p:sp>
      <p:sp>
        <p:nvSpPr>
          <p:cNvPr id="37" name="Text 35"/>
          <p:cNvSpPr/>
          <p:nvPr/>
        </p:nvSpPr>
        <p:spPr>
          <a:xfrm>
            <a:off x="9114282" y="4142232"/>
            <a:ext cx="2471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LIMITATIONS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14282" y="4389120"/>
            <a:ext cx="247116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Coverage where nothing else reaches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GEO delay; LEO Doppler + handover; spectrum coordination; cost</a:t>
            </a:r>
            <a:endParaRPr lang="en-US" sz="1000" dirty="0"/>
          </a:p>
          <a:p>
            <a:pPr marL="101600" indent="-1016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Converging with terrestrial: 5G NTN puts handsets on satellites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28816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ETSI EN 302 307-2 V1.3.1, DVB-S2X (2021) · ITU-R Rec. P.676-12 (2019) · Tedeschi et al., Computer Networks 216 (2022).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Spectrum March Keeps Going 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band in this deck exists because the one below it ran out of something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1E2A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AD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GAIN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Bandwidth: C = B log₂(1+SNR) — capacity scales with B, and contiguous B only exists up-spectrum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Aperture: shorter λ packs more antenna elements into the same area → beamforming gain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Reuse: pencil beams and short range mean the same Hz serves many users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70248" y="178308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1E2A4F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1947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53128" y="233172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loss between isotropic antennas grows ~f²; blockage and absorption stack on top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PA efficiency, phase noise, and ADC cost all worsen with frequency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shorter range forces densification — capex replaces physics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83296" y="1783080"/>
            <a:ext cx="3611880" cy="3657600"/>
          </a:xfrm>
          <a:prstGeom prst="roundRect">
            <a:avLst>
              <a:gd name="adj" fmla="val 1519"/>
            </a:avLst>
          </a:prstGeom>
          <a:solidFill>
            <a:srgbClr val="1E2A4F"/>
          </a:solidFill>
          <a:ln/>
        </p:spPr>
      </p:sp>
      <p:sp>
        <p:nvSpPr>
          <p:cNvPr id="11" name="Text 9"/>
          <p:cNvSpPr/>
          <p:nvPr/>
        </p:nvSpPr>
        <p:spPr>
          <a:xfrm>
            <a:off x="8266176" y="19476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TRANSEC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66176" y="233172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Detectability, jamming geometry, and intercept range all change per band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THz absorption and mmWave beams confine energy — covertness by propagation</a:t>
            </a:r>
            <a:endParaRPr lang="en-US" sz="1100" dirty="0"/>
          </a:p>
          <a:p>
            <a:pPr marL="101600" indent="-101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physical-layer taxonomy must treat band as a first-class axis, not a footnote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mapping TRANSEC objectives (LPD · LPI · LPE · AJ · TFS) onto each of these bands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3550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Shannon, Bell Syst. Tech. J. 27 (1948) · CNSSI No. 4009 (2022) · Bash, Goeckel &amp; Towsley, IEEE JSAC 31(9) (2013).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SPECIFICATIONS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44168"/>
            <a:ext cx="11247120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18092:2013 / ECMA-340 — Information technology — Near Field Communication Interface and Protocol (NFCIP-1). ISO/IEC JTC 1/SC 6.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SIG — Bluetooth Core Specification, Version 6.1, May 2025.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Std 802.11be-2024 — Amendment 2: Enhancements for Extremely High Throughput (EHT) (Wi-Fi 7). IEEE, published July 2025.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TS 25.211 — UTRA (FDD): Physical channels and mapping of transport channels onto physical channels.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TS 36.211 — E-UTRA: Physical channels and modulation.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3GPP TS 38.211 — NR: Physical channels and modulation.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EN 302 307-2 V1.3.1 (2021) — DVB-S2 Extensions (DVB-S2X): framing structure, channel coding and modulation for broadband satellite applications.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308610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ITU-R RECOMMENDATIONS &amp; REPORTS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78708"/>
            <a:ext cx="11247120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 ITU-R M.2160-0 (11/2023) — Framework and overall objectives of the future development of IMT for 2030 and beyond (IMT-2030).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Rep. ITU-R M.2541 (2024) — Technical feasibility of IMT in bands above 100 GHz.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 ITU-R P.676-12 (2019) — Attenuation by atmospheric gases and related effects.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422452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73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&amp; GOVERNMENT REFERENCES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517136"/>
            <a:ext cx="11247120" cy="1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E. Shannon — “A Mathematical Theory of Communication,” Bell System Technical Journal, vol. 27, 1948.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A. Bash, D. Goeckel, D. Towsley — “Limits of Reliable Communication with Low Probability of Detection on AWGN Channels,” IEEE JSAC, vol. 31, no. 9, 2013.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S. Rappaport et al. — “Wireless Communications and Applications Above 100 GHz: Opportunities and Challenges for 6G and Beyond,” IEEE Access, vol. 7, 2019.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Ma et al. — “Security and eavesdropping in terahertz wireless links,” Nature, vol. 563, pp. 89–93, 2018.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Tedeschi, S. Sciancalepore, R. Di Pietro — “Satellite-based communications security: A survey of threats, solutions, and research challenges,” Computer Networks, vol. 216, 2022.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Salim, N. Moustafa, M. Reisslein — “Cybersecurity of Satellite Communications Systems: A Comprehensive Survey,” IEEE Communications Surveys &amp; Tutorials, vol. 27, no. 1, 2025.</a:t>
            </a:r>
            <a:endParaRPr lang="en-US" sz="9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CNSS — CNSSI No. 4009, Committee on National Security Systems Glossary (TRANSEC definition), 2022.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2026-07-29T15:19:10Z</dcterms:created>
  <dcterms:modified xsi:type="dcterms:W3CDTF">2026-07-29T15:19:10Z</dcterms:modified>
</cp:coreProperties>
</file>