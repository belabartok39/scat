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taxonomy proper. Two axes: transmission-security objectives (columns) and bands (rows). The claimed contribution is the unification, not any single cell.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the COMSEC/TRANSEC boundary explicit up front — the most common reviewer objection is 'isn't this just a PLS survey.' LPE is the pillar closest to PLS; note it is exploitation resistance at PHY, distinct from encryption.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mechanism layer is what makes this a taxonomy and not a scorecard: the same objective is reached by different mechanisms in different bands, and some mechanisms only exist at certain bands.</a:t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 structure, not the individual cells: the military-SATCOM row is the only full row of Engineered; the 5G/6G block is the Research cluster; the TFS column is nearly empty; civil terrestrial bands are weak at PHY because their security lives in COMSEC, which is out of scope.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LPD is the theory-rich, deployment-poor column. The interesting taxonomic content is the low-to-high mechanism shift.</a:t>
            </a:r>
            <a:endParaRPr/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 the interoperability-vs-secrecy tension explicitly: it is why LPI does not migrate into civil bands even as hardware improves.</a:t>
            </a:r>
            <a:endParaRPr/>
          </a:p>
        </p:txBody>
      </p:sp>
      <p:sp>
        <p:nvSpPr>
          <p:cNvPr id="242" name="Google Shape;2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pillar closest to mainstream PLS. Keep it framed as transmission-security exploitation resistance, and note the simulation-to-deployment gap so peers see the honesty.</a:t>
            </a:r>
            <a:endParaRPr/>
          </a:p>
        </p:txBody>
      </p:sp>
      <p:sp>
        <p:nvSpPr>
          <p:cNvPr id="263" name="Google Shape;2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GNSS as the cautionary counterexample: a globally deployed system with a first-order AJ weakness, showing that maturity of the field does not mean every system is protected.</a:t>
            </a:r>
            <a:endParaRPr/>
          </a:p>
        </p:txBody>
      </p:sp>
      <p:sp>
        <p:nvSpPr>
          <p:cNvPr id="284" name="Google Shape;2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candid that this column is where the literature is weakest at PHY. This is the opening for the FHODM dual-messaging line of work to sit inside the taxonomy as a genuine contribution rather than a repackaging.</a:t>
            </a:r>
            <a:endParaRPr/>
          </a:p>
        </p:txBody>
      </p:sp>
      <p:sp>
        <p:nvSpPr>
          <p:cNvPr id="305" name="Google Shape;3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single strongest taxonomic claim in the deck: the two regimes are not a spectrum of degree but two different physical toolboxes, and the mid-band overlap is where both are available.</a:t>
            </a:r>
            <a:endParaRPr/>
          </a:p>
        </p:txBody>
      </p:sp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Anticipate the 'isn't this a PLS survey' objection here again, and answer with the column/band coverage argument the survey stream cannot match.</a:t>
            </a:r>
            <a:endParaRPr/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Band-technology standards (ISO/IEC 18092, IEEE 802.11be, 3GPP TS 38.211, ETSI EN 302 307-2, ITU-R M.2160) are carried in the companion survey deck and are not repeated here.</a:t>
            </a:r>
            <a:endParaRPr/>
          </a:p>
        </p:txBody>
      </p:sp>
      <p:sp>
        <p:nvSpPr>
          <p:cNvPr id="361" name="Google Shape;3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Mapping TRANSEC onto the Wireless Spectrum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physical-layer taxonomy of transmission-security objectives across bands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397764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2296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4480560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Probability of Detection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971800" y="397764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97180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063240" y="4480560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Probability of Intercept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120640" y="397764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5B3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12064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212080" y="4480560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Probability of Exploitation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269480" y="397764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26948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AJ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360920" y="4480560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Anti-Jam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418320" y="3977640"/>
            <a:ext cx="1965960" cy="868680"/>
          </a:xfrm>
          <a:prstGeom prst="roundRect">
            <a:avLst>
              <a:gd fmla="val 6316" name="adj"/>
            </a:avLst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418320" y="41056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TFS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9509760" y="4480560"/>
            <a:ext cx="1783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Flow 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Companion to “Wireless Communication Bands” · restricted to the physical layer · COMSEC out of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Nicholas D. Redmond  ·  University of Memphis  ·  July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Five TRANSEC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859536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Transmission security protects the transmission itself — not the message content (that is COMSEC)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1371600"/>
            <a:ext cx="2117750" cy="4480560"/>
          </a:xfrm>
          <a:prstGeom prst="roundRect">
            <a:avLst>
              <a:gd fmla="val 2591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" y="1371600"/>
            <a:ext cx="2117750" cy="566928"/>
          </a:xfrm>
          <a:prstGeom prst="roundRect">
            <a:avLst>
              <a:gd fmla="val 9677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1655064"/>
            <a:ext cx="2117750" cy="2834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1426464"/>
            <a:ext cx="211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66928" y="2029968"/>
            <a:ext cx="18982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Low Probability of Detection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85216" y="2606040"/>
            <a:ext cx="186171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Adversary cannot tell a transmission is happening at 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A71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Defeats: energy detection, spectrum surveillance.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327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Grounded in the covert-communications square-root law (Bash et al., 2013).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739542" y="1371600"/>
            <a:ext cx="2117750" cy="4480560"/>
          </a:xfrm>
          <a:prstGeom prst="roundRect">
            <a:avLst>
              <a:gd fmla="val 2591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739542" y="1371600"/>
            <a:ext cx="2117750" cy="566928"/>
          </a:xfrm>
          <a:prstGeom prst="roundRect">
            <a:avLst>
              <a:gd fmla="val 967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739542" y="1655064"/>
            <a:ext cx="2117750" cy="2834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739542" y="1426464"/>
            <a:ext cx="211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849270" y="2029968"/>
            <a:ext cx="18982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Low Probability of Intercept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867558" y="2606040"/>
            <a:ext cx="186171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Even if detected, adversary cannot determine it is a signal of interest or recover its parameters.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A71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Defeats: parameter analysis, signal sorting.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327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CNSSI 4009 frames LPI as resisting analysis of transmission parameters.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21885" y="1371600"/>
            <a:ext cx="2117750" cy="4480560"/>
          </a:xfrm>
          <a:prstGeom prst="roundRect">
            <a:avLst>
              <a:gd fmla="val 2591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021885" y="1371600"/>
            <a:ext cx="2117750" cy="566928"/>
          </a:xfrm>
          <a:prstGeom prst="roundRect">
            <a:avLst>
              <a:gd fmla="val 9677" name="adj"/>
            </a:avLst>
          </a:prstGeom>
          <a:solidFill>
            <a:srgbClr val="5B3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021885" y="1655064"/>
            <a:ext cx="2117750" cy="283464"/>
          </a:xfrm>
          <a:prstGeom prst="rect">
            <a:avLst/>
          </a:prstGeom>
          <a:solidFill>
            <a:srgbClr val="5B3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021885" y="1426464"/>
            <a:ext cx="211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131613" y="2029968"/>
            <a:ext cx="18982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Low Probability of Exploitation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149901" y="2606040"/>
            <a:ext cx="186171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Even if intercepted and characterized, adversary cannot derive intelligence from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A71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Defeats: content and externals recovery at the PHY layer.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327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Wiretap-channel secrecy (Wyner, 1975); artificial noise (Goel &amp; Negi, 2008).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304227" y="1371600"/>
            <a:ext cx="2117750" cy="4480560"/>
          </a:xfrm>
          <a:prstGeom prst="roundRect">
            <a:avLst>
              <a:gd fmla="val 2591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304227" y="1371600"/>
            <a:ext cx="2117750" cy="566928"/>
          </a:xfrm>
          <a:prstGeom prst="roundRect">
            <a:avLst>
              <a:gd fmla="val 967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304227" y="1655064"/>
            <a:ext cx="2117750" cy="283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304227" y="1426464"/>
            <a:ext cx="211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AJ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413955" y="2029968"/>
            <a:ext cx="18982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Anti-Jam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432243" y="2606040"/>
            <a:ext cx="186171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Communication survives deliberate interference.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A71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Defeats: barrage, partial-band, and follower jamming.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327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Spread spectrum and spatial nulling (Pirayesh &amp; Zeng, 2022).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586570" y="1371600"/>
            <a:ext cx="2117750" cy="4480560"/>
          </a:xfrm>
          <a:prstGeom prst="roundRect">
            <a:avLst>
              <a:gd fmla="val 2591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586570" y="1371600"/>
            <a:ext cx="2117750" cy="566928"/>
          </a:xfrm>
          <a:prstGeom prst="roundRect">
            <a:avLst>
              <a:gd fmla="val 9677" name="adj"/>
            </a:avLst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9586570" y="1655064"/>
            <a:ext cx="2117750" cy="2834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586570" y="1426464"/>
            <a:ext cx="211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TFS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696298" y="2029968"/>
            <a:ext cx="18982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Traffic Flow Security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714586" y="2606040"/>
            <a:ext cx="186171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Traffic externals — presence, volume, timing, endpoints — are concealed from analysis.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A71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Defeats: traffic analysis, pattern-of-life inference.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327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Emission control, cover traffic. Thinly studied at the PHY layer.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6126480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Refs: CNSSI No. 4009 (2022) · Bash, Goeckel &amp; Towsley, IEEE JSAC 31(9) (2013) · Wyner, BSTJ 54 (1975) · Goel &amp; Negi, IEEE TWC 7(6) (2008) · Pirayesh &amp; Zeng, IEEE COMST 24(2) (2022).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Taxonomy structure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859536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Each cell asks: for this band, how is this objective achieved — and how mature is it?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1417320"/>
            <a:ext cx="11247120" cy="1005840"/>
          </a:xfrm>
          <a:prstGeom prst="roundRect">
            <a:avLst>
              <a:gd fmla="val 5455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40080" y="1545336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OBJECTIVE  (what security goal)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0" y="1545336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LPD  ·  LPI  ·  LPE  ·  AJ  ·  TFS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035040" y="2423160"/>
            <a:ext cx="27432" cy="237744"/>
          </a:xfrm>
          <a:prstGeom prst="rect">
            <a:avLst/>
          </a:prstGeom>
          <a:solidFill>
            <a:srgbClr val="6A7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57200" y="2660904"/>
            <a:ext cx="11247120" cy="1005840"/>
          </a:xfrm>
          <a:prstGeom prst="roundRect">
            <a:avLst>
              <a:gd fmla="val 5455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0080" y="278892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MECHANISM  (how it is achieved at PHY)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0" y="2788920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spreading  ·  hopping  ·  power control  ·  beam confinement  ·  spatial nulling  ·  wiretap coding  ·  artificial noise  ·  absorption  ·  emission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035040" y="3666744"/>
            <a:ext cx="27432" cy="237744"/>
          </a:xfrm>
          <a:prstGeom prst="rect">
            <a:avLst/>
          </a:prstGeom>
          <a:solidFill>
            <a:srgbClr val="6A7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57200" y="3904488"/>
            <a:ext cx="11247120" cy="1005840"/>
          </a:xfrm>
          <a:prstGeom prst="roundRect">
            <a:avLst>
              <a:gd fmla="val 5455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40080" y="4032504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BAND  (where it lives)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0" y="4032504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NFC  ·  Bluetooth  ·  Wi-Fi  ·  cellular 3G–6G  ·  SATCOM (LEO/MEO/GEO, civil + military)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51937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MATURITY RATING (cell fill)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5513832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57200" y="55138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59536" y="551383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Native — propagation or design gives 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328416" y="5513832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273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328416" y="55138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730752" y="551383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Engineered — deployed, known mechanism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199632" y="5513832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199632" y="55138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601968" y="551383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Research — emerging or proposed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070848" y="5513832"/>
            <a:ext cx="310896" cy="310896"/>
          </a:xfrm>
          <a:prstGeom prst="roundRect">
            <a:avLst>
              <a:gd fmla="val 11765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9070848" y="55138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9473184" y="551383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Weak / absent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457200" y="237744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The mapping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7863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Physical-layer TRANSEC maturity by band and objective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229600" y="457200"/>
            <a:ext cx="274320" cy="274320"/>
          </a:xfrm>
          <a:prstGeom prst="roundRect">
            <a:avLst>
              <a:gd fmla="val 13333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229600" y="457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144000" y="457200"/>
            <a:ext cx="274320" cy="274320"/>
          </a:xfrm>
          <a:prstGeom prst="roundRect">
            <a:avLst>
              <a:gd fmla="val 13333" name="adj"/>
            </a:avLst>
          </a:prstGeom>
          <a:solidFill>
            <a:srgbClr val="273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144000" y="457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0058400" y="457200"/>
            <a:ext cx="274320" cy="274320"/>
          </a:xfrm>
          <a:prstGeom prst="roundRect">
            <a:avLst>
              <a:gd fmla="val 13333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0058400" y="457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0972800" y="457200"/>
            <a:ext cx="274320" cy="274320"/>
          </a:xfrm>
          <a:prstGeom prst="roundRect">
            <a:avLst>
              <a:gd fmla="val 13333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0972800" y="457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642616" y="1170432"/>
            <a:ext cx="1746504" cy="384048"/>
          </a:xfrm>
          <a:prstGeom prst="roundRect">
            <a:avLst>
              <a:gd fmla="val 9524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642616" y="11704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462272" y="1170432"/>
            <a:ext cx="1746504" cy="384048"/>
          </a:xfrm>
          <a:prstGeom prst="roundRect">
            <a:avLst>
              <a:gd fmla="val 9524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462272" y="11704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281928" y="1170432"/>
            <a:ext cx="1746504" cy="384048"/>
          </a:xfrm>
          <a:prstGeom prst="roundRect">
            <a:avLst>
              <a:gd fmla="val 9524" name="adj"/>
            </a:avLst>
          </a:prstGeom>
          <a:solidFill>
            <a:srgbClr val="5B3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281928" y="11704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101584" y="1170432"/>
            <a:ext cx="1746504" cy="384048"/>
          </a:xfrm>
          <a:prstGeom prst="roundRect">
            <a:avLst>
              <a:gd fmla="val 9524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101584" y="11704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AJ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921240" y="1170432"/>
            <a:ext cx="1746504" cy="384048"/>
          </a:xfrm>
          <a:prstGeom prst="roundRect">
            <a:avLst>
              <a:gd fmla="val 9524" name="adj"/>
            </a:avLst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9921240" y="1170432"/>
            <a:ext cx="17465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1609344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NFC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642616" y="16093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679192" y="16093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near-field decay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462272" y="16093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498848" y="16093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proximity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281928" y="16093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318504" y="16093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101584" y="16093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138160" y="16093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close-range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921240" y="16093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9957816" y="16093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2209419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Bluetooth / 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642616" y="22094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679192" y="22094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low power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462272" y="22094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498848" y="22094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public hop seq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281928" y="22094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318504" y="22094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101584" y="22094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8138160" y="22094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AFH = coexist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921240" y="22094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957816" y="22094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RPA (link only)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2809494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Wi-Fi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642616" y="28094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679192" y="28094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beacons broadcast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462272" y="28094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498848" y="28094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standardized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281928" y="28094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318504" y="28094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 key gen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101584" y="28094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138160" y="28094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DFS ≠ AJ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921240" y="28094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957816" y="28094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3409569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Cellular 3G / 4G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642616" y="34095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2679192" y="34095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3G gain modest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462272" y="34095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498848" y="34095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sync broadcast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281928" y="34095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318504" y="34095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101584" y="34095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138160" y="34095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3G DSSS partial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921240" y="34095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9957816" y="34095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" y="4009644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Cellular 5G NR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642616" y="40096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2679192" y="40096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beam confinement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462272" y="40096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498848" y="40096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beam incidental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281928" y="40096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318504" y="40096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MIMO null + 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101584" y="40096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138160" y="40096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 nulling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921240" y="400964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9957816" y="400964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4609719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6G / sub-THz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642616" y="46097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679192" y="46097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absorption+pencil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462272" y="46097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498848" y="46097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narrow beam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281928" y="46097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318504" y="46097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UM-MIMO / RIS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101584" y="46097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138160" y="46097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pencil off-axis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921240" y="460971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9957816" y="460971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57200" y="5209794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SATCOM — civil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642616" y="52097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2679192" y="52097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wide footprint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462272" y="52097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498848" y="52097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DVB-S2X open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281928" y="52097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318504" y="52097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101584" y="52097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8138160" y="52097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921240" y="5209794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E3E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957816" y="5209794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57200" y="5809869"/>
            <a:ext cx="2075688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1B33"/>
                </a:solidFill>
                <a:latin typeface="Calibri"/>
                <a:ea typeface="Calibri"/>
                <a:cs typeface="Calibri"/>
                <a:sym typeface="Calibri"/>
              </a:rPr>
              <a:t>SATCOM — military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2642616" y="58098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273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2679192" y="58098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spread spectrum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462272" y="58098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273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498848" y="58098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EHF secret 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281928" y="58098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273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6318504" y="58098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noise-like signal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101584" y="58098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273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8138160" y="58098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null + FHSS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9921240" y="5809869"/>
            <a:ext cx="1746504" cy="545211"/>
          </a:xfrm>
          <a:prstGeom prst="roundRect">
            <a:avLst>
              <a:gd fmla="val 6709" name="adj"/>
            </a:avLst>
          </a:prstGeom>
          <a:solidFill>
            <a:srgbClr val="273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9957816" y="5809869"/>
            <a:ext cx="1673352" cy="545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continuous carrier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LPE = physical-layer exploitation resistance (wiretap coding, artificial noise, PHY key generation). Upper-layer cryptography (COMSEC) is out of scope, so civil systems that rely on it read as weak here.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457200" y="256032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Low Probability of Detection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Hiding that a transmission exists at 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0104120" y="292608"/>
            <a:ext cx="1600200" cy="640080"/>
          </a:xfrm>
          <a:prstGeom prst="roundRect">
            <a:avLst>
              <a:gd fmla="val 114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10104120" y="2926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7200" y="1280160"/>
            <a:ext cx="6903720" cy="3977640"/>
          </a:xfrm>
          <a:prstGeom prst="roundRect">
            <a:avLst>
              <a:gd fmla="val 126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585216" y="1371600"/>
            <a:ext cx="6647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How it is achieved, low band → high band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85216" y="1645920"/>
            <a:ext cx="664768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NFC: near-field magnetic decay (~1/r³) makes emission undetectable past ~1 m — physics supplies LPD for free.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3G DSSS: processing gain spreads energy toward the noise floor — a modest, code-public form of hiding.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5G mmWave: beamforming confines energy to a narrow cone — a warden off-axis observes nothing (spatial LPD).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6G sub-THz: molecular absorption plus pencil beams limit detection in both angle and range (propagation LPD).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Military SATCOM: engineered spread-spectrum downlinks push emissions below detectability for off-target receivers.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543800" y="1280160"/>
            <a:ext cx="4160520" cy="1874520"/>
          </a:xfrm>
          <a:prstGeom prst="roundRect">
            <a:avLst>
              <a:gd fmla="val 268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7671816" y="1371600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Where it is strong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671816" y="1645920"/>
            <a:ext cx="39044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Near-field (NFC) and the mmWave/THz frontier, where geometry and absorption do the 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Protected military SATCOM, by deliberate spread-spectrum design.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543800" y="3310128"/>
            <a:ext cx="4160520" cy="1947672"/>
          </a:xfrm>
          <a:prstGeom prst="roundRect">
            <a:avLst>
              <a:gd fmla="val 2582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671816" y="3401568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Where it fails or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671816" y="3675888"/>
            <a:ext cx="39044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All civil terrestrial radio designed to be found: Wi-Fi beacons, cellular sync signals, BLE advertising.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Deployment lags theory: the square-root law is well developed, fielded civil LPD is not.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THz LPD is not automatic — a scatterer in the beam re-enables eavesdropping (Ma et al., 2018).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57200" y="5440680"/>
            <a:ext cx="11247120" cy="658368"/>
          </a:xfrm>
          <a:prstGeom prst="roundRect">
            <a:avLst>
              <a:gd fmla="val 8333" name="adj"/>
            </a:avLst>
          </a:prstGeom>
          <a:solidFill>
            <a:srgbClr val="14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58368" y="544068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Taxonomic reading:  </a:t>
            </a:r>
            <a:r>
              <a:rPr b="0" i="0" lang="en-US" sz="115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LPD moves from a signal-domain mechanism (spreading) at low bands to a propagation/spatial mechanism (beams, absorption) at high bands — the band axis changes which mechanism is even available.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57200" y="6236208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Refs: Bash, Goeckel &amp; Towsley, IEEE JSAC 31(9) (2013) · Chen et al., IEEE COMST 25(2) (2023) · Ma et al., Nature 563 (2018).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/>
          <p:nvPr/>
        </p:nvSpPr>
        <p:spPr>
          <a:xfrm>
            <a:off x="457200" y="256032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Low Probability of Intercept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Detected, but not identifiable as a signal of interest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10104120" y="292608"/>
            <a:ext cx="1600200" cy="640080"/>
          </a:xfrm>
          <a:prstGeom prst="roundRect">
            <a:avLst>
              <a:gd fmla="val 11429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10104120" y="2926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57200" y="1280160"/>
            <a:ext cx="6903720" cy="3977640"/>
          </a:xfrm>
          <a:prstGeom prst="roundRect">
            <a:avLst>
              <a:gd fmla="val 126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85216" y="1371600"/>
            <a:ext cx="6647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How it is achieved, low band → high band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85216" y="1645920"/>
            <a:ext cx="664768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Frequency hopping with a secret sequence: the observer sees energy but cannot predict where it goes next.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Direct-sequence spreading with a secret code: the waveform looks noise-like without the code.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Waveform / parameter randomization: deny the constant features a sorter keys 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Beam directionality (5G/6G) adds incidental LPI — only a receiver in the beam can even attempt analysis.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Military EHF SATCOM: secret hop patterns are the reference implementation of fielded LPI.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543800" y="1280160"/>
            <a:ext cx="4160520" cy="1874520"/>
          </a:xfrm>
          <a:prstGeom prst="roundRect">
            <a:avLst>
              <a:gd fmla="val 268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7671816" y="1371600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Where it is strong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671816" y="1645920"/>
            <a:ext cx="39044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Military systems using secret spreading / hopping — the intended home of LPI.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543800" y="3310128"/>
            <a:ext cx="4160520" cy="1947672"/>
          </a:xfrm>
          <a:prstGeom prst="roundRect">
            <a:avLst>
              <a:gd fmla="val 2582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7671816" y="3401568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Where it fails or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671816" y="3675888"/>
            <a:ext cx="39044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Every civil standard: hop sequences and spreading codes are published for interoperability, so parameters are recoverable by design.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Bluetooth AFH and cellular hopping exist for coexistence, not concealment — they do not deny parameter analysis.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57200" y="5440680"/>
            <a:ext cx="11247120" cy="658368"/>
          </a:xfrm>
          <a:prstGeom prst="roundRect">
            <a:avLst>
              <a:gd fmla="val 8333" name="adj"/>
            </a:avLst>
          </a:prstGeom>
          <a:solidFill>
            <a:srgbClr val="14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58368" y="544068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Taxonomic reading:  </a:t>
            </a:r>
            <a:r>
              <a:rPr b="0" i="0" lang="en-US" sz="115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LPI is almost entirely a military column. Civil interoperability requires published parameters, which is the opposite of LPI — the one objective where the commercial/defense split is sharpest.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57200" y="6236208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Refs: CNSSI No. 4009 (2022) · Pirayesh &amp; Zeng, IEEE COMST 24(2) (2022).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457200" y="256032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Low Probability of Exploitation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Intercepted and characterized, but still yields no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0104120" y="292608"/>
            <a:ext cx="1600200" cy="640080"/>
          </a:xfrm>
          <a:prstGeom prst="roundRect">
            <a:avLst>
              <a:gd fmla="val 11429" name="adj"/>
            </a:avLst>
          </a:prstGeom>
          <a:solidFill>
            <a:srgbClr val="5B3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10104120" y="2926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LPE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57200" y="1280160"/>
            <a:ext cx="6903720" cy="3977640"/>
          </a:xfrm>
          <a:prstGeom prst="roundRect">
            <a:avLst>
              <a:gd fmla="val 126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85216" y="1371600"/>
            <a:ext cx="6647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How it is achieved, low band → high band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85216" y="1645920"/>
            <a:ext cx="664768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Wiretap-channel coding: exploit a channel advantage so the eavesdropper's equivocation stays high (Wyner, 1975).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Artificial noise: spend power to degrade only the eavesdropper's channel, not the intended one (Goel &amp; Negi, 2008).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MIMO / massive-MIMO beamforming: steer a spatial null toward the eavesdropper (5G, and 6G ultra-massive arrays).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Channel-based key generation: derive shared keys from reciprocal channel randomness at the PHY layer.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RIS-aided nulling (6G): reshape the environment to suppress the eavesdropper's received signal.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543800" y="1280160"/>
            <a:ext cx="4160520" cy="1874520"/>
          </a:xfrm>
          <a:prstGeom prst="roundRect">
            <a:avLst>
              <a:gd fmla="val 268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7671816" y="1371600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Where it is strong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7671816" y="1645920"/>
            <a:ext cx="39044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Multi-antenna bands (5G/6G): spatial degrees of freedom make secrecy and artificial noise practical.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Military SATCOM: noise-like spread signals leak little from their externals.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543800" y="3310128"/>
            <a:ext cx="4160520" cy="1947672"/>
          </a:xfrm>
          <a:prstGeom prst="roundRect">
            <a:avLst>
              <a:gd fmla="val 2582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7671816" y="3401568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Where it fails or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671816" y="3675888"/>
            <a:ext cx="39044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Single-antenna, low-band systems (NFC, BLE, legacy cellular) have few PHY degrees of freedom to exploit.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Most academic PLS work stops at simulation; reciprocity and CSI assumptions rarely survive deployment.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57200" y="5440680"/>
            <a:ext cx="11247120" cy="658368"/>
          </a:xfrm>
          <a:prstGeom prst="roundRect">
            <a:avLst>
              <a:gd fmla="val 8333" name="adj"/>
            </a:avLst>
          </a:prstGeom>
          <a:solidFill>
            <a:srgbClr val="14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58368" y="544068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Taxonomic reading:  </a:t>
            </a:r>
            <a:r>
              <a:rPr b="0" i="0" lang="en-US" sz="115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LPE is where the academic PLS literature concentrates, and it scales with spatial degrees of freedom — which is exactly why it strengthens as bands rise and arrays grow.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57200" y="6236208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Refs: Wyner, BSTJ 54 (1975) · Goel &amp; Negi, IEEE TWC 7(6) (2008).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/>
          <p:nvPr/>
        </p:nvSpPr>
        <p:spPr>
          <a:xfrm>
            <a:off x="457200" y="256032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Anti-Jam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Communication that survives deliberate interference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0104120" y="292608"/>
            <a:ext cx="1600200" cy="640080"/>
          </a:xfrm>
          <a:prstGeom prst="roundRect">
            <a:avLst>
              <a:gd fmla="val 11429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0104120" y="2926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AJ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7200" y="1280160"/>
            <a:ext cx="6903720" cy="3977640"/>
          </a:xfrm>
          <a:prstGeom prst="roundRect">
            <a:avLst>
              <a:gd fmla="val 126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85216" y="1371600"/>
            <a:ext cx="6647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How it is achieved, low band → high band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85216" y="1645920"/>
            <a:ext cx="664768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Spread-spectrum processing gain: DSSS/FHSS raise the jammer's required power by the spreading factor.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Frequency hopping: move faster than a follower jammer can track.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Spatial nulling: adaptive antennas and massive MIMO place pattern nulls on the jammer (5G/6G).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Pencil beams (6G/THz): an off-axis jammer contributes almost no power into the beam.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Military SATCOM: nulling antennas plus EHF hopping are the fielded gold standard.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543800" y="1280160"/>
            <a:ext cx="4160520" cy="1874520"/>
          </a:xfrm>
          <a:prstGeom prst="roundRect">
            <a:avLst>
              <a:gd fmla="val 268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7671816" y="1371600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Where it is strong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7671816" y="1645920"/>
            <a:ext cx="39044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Military SATCOM and tactical radios — the best-developed TRANSEC column overall.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Multi-antenna 5G/6G, where spatial nulling adds a new anti-jam axis.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543800" y="3310128"/>
            <a:ext cx="4160520" cy="1947672"/>
          </a:xfrm>
          <a:prstGeom prst="roundRect">
            <a:avLst>
              <a:gd fmla="val 2582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7671816" y="3401568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Where it fails or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7671816" y="3675888"/>
            <a:ext cx="39044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GNSS: low received power makes it notoriously jammable; CRPA antennas only partly help.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Civil Wi-Fi and cellular have little intrinsic AJ — DFS and power control are not jam resistance.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Pencil-beam AJ trades one weakness for another: robust off-axis, but fragile to blockage.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57200" y="5440680"/>
            <a:ext cx="11247120" cy="658368"/>
          </a:xfrm>
          <a:prstGeom prst="roundRect">
            <a:avLst>
              <a:gd fmla="val 8333" name="adj"/>
            </a:avLst>
          </a:prstGeom>
          <a:solidFill>
            <a:srgbClr val="14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658368" y="544068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Taxonomic reading:  </a:t>
            </a:r>
            <a:r>
              <a:rPr b="0" i="0" lang="en-US" sz="115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AJ is the most mature objective across the whole matrix, and the only one with both a deep signal-domain toolkit and a growing spatial one — the two regimes reinforce rather than replace each other here.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57200" y="6236208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Refs: Pirayesh &amp; Zeng, IEEE COMST 24(2) (2022) · Tedeschi, Sciancalepore &amp; Di Pietro, Computer Networks 216 (2022).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457200" y="256032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Traffic Flow Security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Concealing traffic externals — the sparse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0104120" y="292608"/>
            <a:ext cx="1600200" cy="640080"/>
          </a:xfrm>
          <a:prstGeom prst="roundRect">
            <a:avLst>
              <a:gd fmla="val 11429" name="adj"/>
            </a:avLst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10104120" y="2926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TFS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57200" y="1280160"/>
            <a:ext cx="6903720" cy="3977640"/>
          </a:xfrm>
          <a:prstGeom prst="roundRect">
            <a:avLst>
              <a:gd fmla="val 126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585216" y="1371600"/>
            <a:ext cx="6647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How it is achieved, low band → high band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85216" y="1645920"/>
            <a:ext cx="6647688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Emission control (EMCON): transmit only when necessary to deny a pattern of life.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Cover / dummy traffic: keep emission constant so real activity is not distinguishable from idle.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Constant-envelope continuous carriers: hide volume and timing behind a steady signal.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Decoy-channel and dual-messaging schemes: emit structured traffic that masks the real channel (an active research direction).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Address / identifier randomization (e.g. BLE RPA) partly hides endpoints — but at the link layer, not the PHY.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7543800" y="1280160"/>
            <a:ext cx="4160520" cy="1874520"/>
          </a:xfrm>
          <a:prstGeom prst="roundRect">
            <a:avLst>
              <a:gd fmla="val 268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7671816" y="1371600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Where it is strong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7671816" y="1645920"/>
            <a:ext cx="390448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Military SATCOM and naval EMCON doctrine, where continuous-carrier and radio-silence practices are established.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7543800" y="3310128"/>
            <a:ext cx="4160520" cy="1947672"/>
          </a:xfrm>
          <a:prstGeom prst="roundRect">
            <a:avLst>
              <a:gd fmla="val 2582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7671816" y="3401568"/>
            <a:ext cx="3904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Where it fails or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671816" y="3675888"/>
            <a:ext cx="39044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Nearly every civil band: traffic timing and volume are exposed by design.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300"/>
              </a:spcBef>
              <a:spcAft>
                <a:spcPts val="0"/>
              </a:spcAft>
              <a:buClr>
                <a:srgbClr val="23272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PHY-layer TFS is thinly studied — most traffic-analysis defense lives at the network / anonymity layer, not the waveform.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57200" y="5440680"/>
            <a:ext cx="11247120" cy="658368"/>
          </a:xfrm>
          <a:prstGeom prst="roundRect">
            <a:avLst>
              <a:gd fmla="val 8333" name="adj"/>
            </a:avLst>
          </a:prstGeom>
          <a:solidFill>
            <a:srgbClr val="14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58368" y="544068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Taxonomic reading:  </a:t>
            </a:r>
            <a:r>
              <a:rPr b="0" i="0" lang="en-US" sz="115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TFS is the empty column of the taxonomy at the physical layer — the clearest gap, and the strongest place for a new contribution (including PHY-layer dual-messaging / decoy-channel work).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57200" y="6236208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Refs: CNSSI No. 4009 (2022) · Chen et al., IEEE COMST 25(2) (2023, network-layer covert channels).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33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/>
          <p:nvPr/>
        </p:nvSpPr>
        <p:spPr>
          <a:xfrm>
            <a:off x="822960" y="3657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Two mechanism regimes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22960" y="102412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The band axis does not just add bandwidth — it changes which TRANSEC mechanisms physically exist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822960" y="1691640"/>
            <a:ext cx="5349240" cy="3246120"/>
          </a:xfrm>
          <a:prstGeom prst="roundRect">
            <a:avLst>
              <a:gd fmla="val 1690" name="adj"/>
            </a:avLst>
          </a:prstGeom>
          <a:solidFill>
            <a:srgbClr val="1E2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042416" y="1874520"/>
            <a:ext cx="4910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SIGNAL-DOMAIN REGIME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42416" y="2203704"/>
            <a:ext cx="4910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Low bands — NFC through sub-6 cellular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042416" y="2587752"/>
            <a:ext cx="49103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E8EBF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Security is built in the waveform: spreading, hopping, coding, power control.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900"/>
              </a:spcBef>
              <a:spcAft>
                <a:spcPts val="0"/>
              </a:spcAft>
              <a:buClr>
                <a:srgbClr val="E8EBF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Objectives served: AJ and LPI (with secret parameters), some LPD via processing gain.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900"/>
              </a:spcBef>
              <a:spcAft>
                <a:spcPts val="0"/>
              </a:spcAft>
              <a:buClr>
                <a:srgbClr val="E8EBF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Ceiling: narrow bandwidth caps spreading gain; a single antenna offers no spatial handle.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720840" y="1691640"/>
            <a:ext cx="5349240" cy="3246120"/>
          </a:xfrm>
          <a:prstGeom prst="roundRect">
            <a:avLst>
              <a:gd fmla="val 1690" name="adj"/>
            </a:avLst>
          </a:prstGeom>
          <a:solidFill>
            <a:srgbClr val="1E2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6940296" y="1874520"/>
            <a:ext cx="4910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D1B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AD1B0"/>
                </a:solidFill>
                <a:latin typeface="Calibri"/>
                <a:ea typeface="Calibri"/>
                <a:cs typeface="Calibri"/>
                <a:sym typeface="Calibri"/>
              </a:rPr>
              <a:t>PROPAGATION / SPATIAL REGIME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940296" y="2203704"/>
            <a:ext cx="4910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FA3D9"/>
                </a:solidFill>
                <a:latin typeface="Calibri"/>
                <a:ea typeface="Calibri"/>
                <a:cs typeface="Calibri"/>
                <a:sym typeface="Calibri"/>
              </a:rPr>
              <a:t>High bands — mmWave and sub-THz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940296" y="2587752"/>
            <a:ext cx="491032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E8EBF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Security comes from geometry and physics: pencil beams, spatial nulls, molecular absorption.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900"/>
              </a:spcBef>
              <a:spcAft>
                <a:spcPts val="0"/>
              </a:spcAft>
              <a:buClr>
                <a:srgbClr val="E8EBF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Objectives served: LPD and LPE by confinement, AJ by off-axis rejection.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900"/>
              </a:spcBef>
              <a:spcAft>
                <a:spcPts val="0"/>
              </a:spcAft>
              <a:buClr>
                <a:srgbClr val="E8EBF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Ceiling: blockage and range fragility; a scatterer can undo the confinement (Ma et al., 2018).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22960" y="5166360"/>
            <a:ext cx="10881360" cy="914400"/>
          </a:xfrm>
          <a:prstGeom prst="roundRect">
            <a:avLst>
              <a:gd fmla="val 6000" name="adj"/>
            </a:avLst>
          </a:prstGeom>
          <a:solidFill>
            <a:srgbClr val="2332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051560" y="516636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transition band matters most.  </a:t>
            </a:r>
            <a:r>
              <a:rPr b="0" i="0" lang="en-US" sz="125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5G FR1→FR2 and the 7–24 GHz upper mid-band are where a system can draw on both regimes at once — the richest, least-mapped region of the taxonomy.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Gaps and contribution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57200" y="859536"/>
            <a:ext cx="11247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1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A7180"/>
                </a:solidFill>
                <a:latin typeface="Calibri"/>
                <a:ea typeface="Calibri"/>
                <a:cs typeface="Calibri"/>
                <a:sym typeface="Calibri"/>
              </a:rPr>
              <a:t>What the matrix shows is missing — and what unifying it adds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1371600"/>
            <a:ext cx="3602736" cy="3977640"/>
          </a:xfrm>
          <a:prstGeom prst="roundRect">
            <a:avLst>
              <a:gd fmla="val 152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03504" y="1517904"/>
            <a:ext cx="3310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Empty and thin cells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03504" y="2029968"/>
            <a:ext cx="331012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TFS at the PHY layer is nearly empty across every band — the clearest single gap.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10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LPD deployment trails LPD theory badly outside military systems.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10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LPI does not exist in civil bands and structurally cannot, given interoperability.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279392" y="1371600"/>
            <a:ext cx="3602736" cy="3977640"/>
          </a:xfrm>
          <a:prstGeom prst="roundRect">
            <a:avLst>
              <a:gd fmla="val 152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425696" y="1517904"/>
            <a:ext cx="3310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What the unified view adds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425696" y="2029968"/>
            <a:ext cx="331012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Imports the CNSSI TRANSEC frame to organize a literature currently split across covert-comms, PLS, and anti-jam surveys.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10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Makes band a first-class axis, exposing the two-regime structure and the mid-band overlap.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10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Names military SATCOM as the only full-stack exemplar to measure civil systems against.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8101584" y="1371600"/>
            <a:ext cx="3602736" cy="3977640"/>
          </a:xfrm>
          <a:prstGeom prst="roundRect">
            <a:avLst>
              <a:gd fmla="val 1523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8247888" y="1517904"/>
            <a:ext cx="33101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Positioning vs. existing surveys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8247888" y="2029968"/>
            <a:ext cx="331012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Covert-comms surveys cover one column (LPD); anti-jam surveys cover another (AJ).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10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SATCOM and THz security surveys cover one band region each.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1000"/>
              </a:spcBef>
              <a:spcAft>
                <a:spcPts val="0"/>
              </a:spcAft>
              <a:buClr>
                <a:srgbClr val="23272E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None spans all five objectives across all bands at the PHY layer — the contribution is the unification.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57200" y="5532120"/>
            <a:ext cx="11247120" cy="658368"/>
          </a:xfrm>
          <a:prstGeom prst="roundRect">
            <a:avLst>
              <a:gd fmla="val 8333" name="adj"/>
            </a:avLst>
          </a:prstGeom>
          <a:solidFill>
            <a:srgbClr val="14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658368" y="553212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Claim:  </a:t>
            </a:r>
            <a:r>
              <a:rPr b="0" i="0" lang="en-US" sz="1200" u="none" cap="none" strike="noStrike">
                <a:solidFill>
                  <a:srgbClr val="E8EBF5"/>
                </a:solidFill>
                <a:latin typeface="Calibri"/>
                <a:ea typeface="Calibri"/>
                <a:cs typeface="Calibri"/>
                <a:sym typeface="Calibri"/>
              </a:rPr>
              <a:t>not a new mechanism, but the first physical-layer TRANSEC taxonomy that maps all five objectives across the full band range — with TFS-at-PHY as the open frontier.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1B33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57200" y="105156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FOUNDATIONS &amp; DEFINITIONS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457200" y="1344168"/>
            <a:ext cx="1124712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C. E. Shannon — “Communication Theory of Secrecy Systems,” Bell System Technical Journal, vol. 28, 1949.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40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A. D. Wyner — “The Wire-Tap Channel,” Bell System Technical Journal, vol. 54, no. 8, pp. 1355–1387, 1975.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40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CNSS — CNSSI No. 4009, Committee on National Security Systems Glossary (TRANSEC, LPI, AJ definitions), 2022.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57200" y="2468880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OBJECTIVE-SPECIFIC MECHANISMS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2761488"/>
            <a:ext cx="11247120" cy="1289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B. A. Bash, D. Goeckel, D. Towsley — “Limits of Reliable Communication with Low Probability of Detection on AWGN Channels,” IEEE JSAC, vol. 31, no. 9, 2013.  [LPD]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40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S. Goel, R. Negi — “Guaranteeing Secrecy using Artificial Noise,” IEEE Trans. Wireless Communications, vol. 7, no. 6, pp. 2180–2189, 2008.  [LPE]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40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H. Pirayesh, H. Zeng — “Jamming Attacks and Anti-Jamming Strategies in Wireless Networks: A Comprehensive Survey,” IEEE Communications Surveys &amp; Tutorials, vol. 24, no. 2, 2022.  [AJ]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40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X. Chen et al. — “Covert Communications: A Comprehensive Survey,” IEEE Communications Surveys &amp; Tutorials, vol. 25, no. 2, 2023.  [LPD / TFS-adjacent]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57200" y="4197096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3FA8"/>
                </a:solidFill>
                <a:latin typeface="Calibri"/>
                <a:ea typeface="Calibri"/>
                <a:cs typeface="Calibri"/>
                <a:sym typeface="Calibri"/>
              </a:rPr>
              <a:t>BAND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57200" y="4489704"/>
            <a:ext cx="1124712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spcBef>
                <a:spcPts val="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P. Tedeschi, S. Sciancalepore, R. Di Pietro — “Satellite-based communications security: A survey of threats, solutions, and research challenges,” Computer Networks, vol. 216, 2022.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40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J. Ma et al. — “Security and eavesdropping in terahertz wireless links,” Nature, vol. 563, pp. 89–93, 2018.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01600" marR="0" rtl="0" algn="l">
              <a:spcBef>
                <a:spcPts val="400"/>
              </a:spcBef>
              <a:spcAft>
                <a:spcPts val="0"/>
              </a:spcAft>
              <a:buClr>
                <a:srgbClr val="23272E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3272E"/>
                </a:solidFill>
                <a:latin typeface="Calibri"/>
                <a:ea typeface="Calibri"/>
                <a:cs typeface="Calibri"/>
                <a:sym typeface="Calibri"/>
              </a:rPr>
              <a:t>T. S. Rappaport et al. — “Wireless Communications and Applications Above 100 GHz,” IEEE Access, vol. 7, 2019.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